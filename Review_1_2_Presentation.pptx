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E1 &amp; E2 — CLOUD ARCHITECTURE AND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600200"/>
            <a:ext cx="3047695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Event-Driven Serverless AI Image</a:t>
            </a:r>
            <a:br/>
            <a:r>
              <a:t>Tagging &amp; Analysis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Using AWS S3, Lambda, Amazon Rekognition, and DynamoDB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3840480"/>
            <a:ext cx="320040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38679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REVIEW 1 &amp; 2 COMBINED  ·  20 MARKS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84632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ANIRUDDH V K  —  24BAI1490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Team Lead &amp; Cloud Architect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Infrastructure, S3, Lambda, IAM Policy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84632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KONARK VERMA  —  24BAI1533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AI Integration &amp; Data Engineer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Rekognition, DynamoDB Schema, Testing,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621792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September 22, 2026  ·  Submission Window: Sep 21 – Sep 24,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01  Problem Statement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Modern digital asset management demands automated image categorization at scale</a:t>
            </a:r>
            <a:br/>
            <a:r>
              <a:t>without persistent compute infrastructure costs.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3832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377440"/>
            <a:ext cx="548640" cy="54864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High Idle Costs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VMs accrue billing charges 24/7 regardless of request volume. Resources wasted during off-peak hours.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103120"/>
            <a:ext cx="33832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09160" y="2377440"/>
            <a:ext cx="548640" cy="5486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108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Operational Overhead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4747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OS patching, runtime management, load balancer config, and scaling rules require significant admin effort.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103120"/>
            <a:ext cx="33832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03920" y="237744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108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Scaling 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4747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VM scale-out takes 2–5 minutes. Burst traffic causes request drops. Auto-scaling is complex to configure.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54880"/>
            <a:ext cx="10881360" cy="1645920"/>
          </a:xfrm>
          <a:prstGeom prst="roundRect">
            <a:avLst/>
          </a:prstGeom>
          <a:solidFill>
            <a:srgbClr val="0D2B1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92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✓  OUR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An event-driven serverless pipeline where compute executes purely in response to S3 upload triggers, scales from zero to thousands of concurrent executions instantaneously, and costs are strictly per-millisecond of execution. AI inference is offloaded to a managed service — no model training or GPU provisioning required.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02  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394960" cy="15087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508760"/>
            <a:ext cx="411480" cy="411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463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Asynchronous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2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Ingest image files upon S3 upload without manual intervention or intermediate polling mechanisms.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394960" cy="15087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29400" y="1508760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463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AI-Powered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87452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Extract visual objects, concepts, and hierarchical categories using Amazon Rekognition DetectLabels API.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71800"/>
            <a:ext cx="5394960" cy="15087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3200400"/>
            <a:ext cx="411480" cy="4114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54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NoSQL Metadata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56616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Store variable-length tag lists, confidence scores, parent hierarchies, and timestamps in DynamoDB.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971800"/>
            <a:ext cx="5394960" cy="15087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29400" y="3200400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154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Least-Privilege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56616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Enforce strict service-to-service IAM permissions — no wildcards, no FullAccess policies.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5394960" cy="15087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8680" y="4892040"/>
            <a:ext cx="411480" cy="41148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846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Zero Idle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25780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Pay only per-millisecond of execution. No always-on VMs, containers, or reserved capacity.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663440"/>
            <a:ext cx="5394960" cy="15087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29400" y="4892040"/>
            <a:ext cx="411480" cy="411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4846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Sub-Second Latency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525780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Achieve end-to-end processing (upload → tags in DB) in under 1 second for standard images.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03 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377440" cy="29260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34440" y="1645920"/>
            <a:ext cx="822960" cy="8229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Amazon S3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BDF8"/>
                </a:solidFill>
                <a:latin typeface="Calibri"/>
              </a:defRPr>
            </a:pPr>
            <a:r>
              <a:t>Storage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incoming/* prefix</a:t>
            </a:r>
            <a:br/>
            <a:r>
              <a:t>Event notifications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80360" y="2560320"/>
            <a:ext cx="457200" cy="36576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1371600"/>
            <a:ext cx="2377440" cy="29260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60520" y="1645920"/>
            <a:ext cx="822960" cy="8229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606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AWS Lambda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971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5CF6"/>
                </a:solidFill>
                <a:latin typeface="Calibri"/>
              </a:defRPr>
            </a:pPr>
            <a:r>
              <a:t>Compute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3375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Python 3.12 FaaS</a:t>
            </a:r>
            <a:br/>
            <a:r>
              <a:t>Stateless orchestrator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06440" y="2560320"/>
            <a:ext cx="457200" cy="36576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371600"/>
            <a:ext cx="2377440" cy="29260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86600" y="1645920"/>
            <a:ext cx="822960" cy="8229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06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Rekognition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71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Calibri"/>
              </a:defRPr>
            </a:pPr>
            <a:r>
              <a:t>AI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3375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DetectLabels API</a:t>
            </a:r>
            <a:br/>
            <a:r>
              <a:t>Deep CNN inference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32520" y="2560320"/>
            <a:ext cx="457200" cy="36576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35440" y="1371600"/>
            <a:ext cx="2377440" cy="29260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12680" y="1645920"/>
            <a:ext cx="822960" cy="8229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606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DynamoDB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971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BF24"/>
                </a:solidFill>
                <a:latin typeface="Calibri"/>
              </a:defRPr>
            </a:pPr>
            <a:r>
              <a:t>Database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3375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ImageTags table</a:t>
            </a:r>
            <a:br/>
            <a:r>
              <a:t>On-Demand billing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0" y="4754880"/>
            <a:ext cx="3931920" cy="10972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0" y="48920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📋  Amazon CloudWatch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2578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Structured Logs · Metrics · Observability Layer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5943600" y="4389120"/>
            <a:ext cx="320040" cy="36576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04  Sequential Processing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0881360" cy="868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41732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Upload 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6916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User uploads image to S3 bucket</a:t>
            </a:r>
            <a:br/>
            <a:r>
              <a:t>incoming/ prefix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13431"/>
            <a:ext cx="10881360" cy="868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450591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40487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Notification Phase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724911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S3 generates ObjectCreated:Put event</a:t>
            </a:r>
            <a:br/>
            <a:r>
              <a:t>Prefix filter → invokes Lambda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46702"/>
            <a:ext cx="10881360" cy="868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3483862"/>
            <a:ext cx="548640" cy="5486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43814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Extraction &amp;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758182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Lambda extracts bucket/key from event</a:t>
            </a:r>
            <a:br/>
            <a:r>
              <a:t>Validates .jpg/.jpeg/.png extension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79973"/>
            <a:ext cx="10881360" cy="868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4517133"/>
            <a:ext cx="548640" cy="5486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471413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AI Inference Phase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791453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Lambda calls Rekognition DetectLabels</a:t>
            </a:r>
            <a:br/>
            <a:r>
              <a:t>S3Object pointer (no binary transfer)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413244"/>
            <a:ext cx="10881360" cy="868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5550404"/>
            <a:ext cx="548640" cy="54864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50468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Persistence &amp; Logging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824724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Tags + metadata → DynamoDB PutItem</a:t>
            </a:r>
            <a:br/>
            <a:r>
              <a:t>Execution logs → CloudWatch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05  Algorithm &amp; Mathematical Formulations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303520" cy="2468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Eq. 1: Confidence Score Thresholding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L_output = { l | l ∈ L_candidate, C(l) ≥ τ, Rank(C(l)) ≤ N }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200" b="1">
                <a:solidFill>
                  <a:srgbClr val="CBD5E1"/>
                </a:solidFill>
                <a:latin typeface="Calibri"/>
              </a:defRPr>
            </a:pPr>
            <a:r>
              <a:t>Where: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τ = 70.0% — minimum confidence cutoff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N = 10 — maximum top label 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03520" cy="2468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Eq. 2: Latency Composition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T_total = T_event + T_init + T_rekog + T_dynamo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T_event:  S3 notification ≈ 50–150 ms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T_init:   Lambda cold start ≈ 250 ms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T_rekog:  Rekognition API ≈ 400–600 ms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T_dynamo: DynamoDB write ≈ 15–35 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5303520" cy="2468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Eq. 3: Cost Per Image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Cost = C_S3 + (M × T × P_GB) + P_Rekog + P_DDB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M_Lambda = 256 MB memory allocation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P_Rekognition = $0.001 per image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P_DynamoDB = $0.00000125 per WCU</a:t>
            </a:r>
          </a:p>
          <a:p>
            <a:pPr algn="l">
              <a:spcAft>
                <a:spcPts val="600"/>
              </a:spcAft>
              <a:defRPr sz="1100" b="1">
                <a:solidFill>
                  <a:srgbClr val="34D399"/>
                </a:solidFill>
                <a:latin typeface="Calibri"/>
              </a:defRPr>
            </a:pPr>
            <a:r>
              <a:t>1,000 images total cost ≈ $1.00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303520" cy="24688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069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Algorithm 1: Processing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4805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1. Receive S3 event → validate Records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2. Extract bucket name + URL-decode key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3. Validate extension ∈ {.jpg, .jpeg, .png}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4. Call Rekognition.DetectLabels(S3Ref)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5. Format labels → DynamoDB PutItem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6. Log execution metrics → CloudWatch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7. Return status (200/207/500)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06  IAM Security — Least Privilege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Every IAM statement scoped to exact resource ARNs and specific API actions — no wildcards, no FullAccess policies.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881360" cy="10058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ReadS3UploadedImage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s3:GetObject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arn:...incoming/*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Read only from incoming/ prefix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34640"/>
            <a:ext cx="10881360" cy="10058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InvokeRekognitionDetectLabels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rekognition:DetectLabels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926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* (API constraint)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375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AWS does not support resource ARNs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23360"/>
            <a:ext cx="10881360" cy="10058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alibri"/>
              </a:defRPr>
            </a:pPr>
            <a:r>
              <a:t>WriteDynamoDBImageTags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dynamodb:PutItem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114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arn:...table/ImageTags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Write only to ImageTags table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12080"/>
            <a:ext cx="10881360" cy="10058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03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CloudWatchLogging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303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logs:Create*, PutLogEvents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303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arn:...log-group/...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Scoped to function's own log group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669280"/>
            <a:ext cx="10881360" cy="731520"/>
          </a:xfrm>
          <a:prstGeom prst="roundRect">
            <a:avLst/>
          </a:prstGeom>
          <a:solidFill>
            <a:srgbClr val="2D1A0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F24"/>
                </a:solidFill>
                <a:latin typeface="Calibri"/>
              </a:defRPr>
            </a:pPr>
            <a:r>
              <a:t>⚠  Rekognition DetectLabels uses Resource: "*" — this is an AWS API constraint, NOT an oversight. Documented in AWS IAM User Guide. All other statements are tightly scoped to specific ARNs.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07  Implementation — Key Code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303520" cy="2743200"/>
          </a:xfrm>
          <a:prstGeom prst="roundRect">
            <a:avLst/>
          </a:prstGeom>
          <a:solidFill>
            <a:srgbClr val="0D112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lambda/handler.py — Core Handler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34D399"/>
                </a:solidFill>
                <a:latin typeface="Consolas"/>
              </a:defRPr>
            </a:pPr>
            <a:r>
              <a:t>def lambda_handler(event, context):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    # Extract S3 bucket + key from event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   bucket = record['s3']['bucket']['name']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   key = urllib.parse.unquote_plus(...)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94A3B8"/>
                </a:solidFill>
                <a:latin typeface="Consolas"/>
              </a:defRPr>
            </a:pPr>
            <a:r>
              <a:t>    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    # Call Rekognition with S3 pointer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   rekognition_client.detect_labels(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       Image={'S3Object': {Bucket, Name}},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       MaxLabels=10, MinConfidence=70.0)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03520" cy="2743200"/>
          </a:xfrm>
          <a:prstGeom prst="roundRect">
            <a:avLst/>
          </a:prstGeom>
          <a:solidFill>
            <a:srgbClr val="0D1120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Calibri"/>
              </a:defRPr>
            </a:pPr>
            <a:r>
              <a:t>infra/template.yaml — SAM/CloudFormation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34D399"/>
                </a:solidFill>
                <a:latin typeface="Consolas"/>
              </a:defRPr>
            </a:pPr>
            <a:r>
              <a:t>Resources: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 SourceImageBucket:  # S3 Bucket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   NotificationConfiguration: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     Event: s3:ObjectCreated:*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     Filter: prefix: incoming/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 ImageTagsTable:     # DynamoDB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   BillingMode: PAY_PER_REQUEST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   KeySchema: ImageKey (HASH)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CBD5E1"/>
                </a:solidFill>
                <a:latin typeface="Consolas"/>
              </a:defRPr>
            </a:pPr>
            <a:r>
              <a:t>  ImageAnalyzerFunction: # Lambda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06240"/>
            <a:ext cx="530352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alibri"/>
              </a:defRPr>
            </a:pPr>
            <a:r>
              <a:t>📁  Repository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FFFFFF"/>
                </a:solidFill>
                <a:latin typeface="Consolas"/>
              </a:defRPr>
            </a:pPr>
            <a:r>
              <a:t>CAD/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├── lambda/handler.py         # Lambda entrypoint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├── iam/*.json                # IAM policies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├── infra/template.yaml       # SAM/CFN template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├── scripts/local_test.py     # Test harness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├── scripts/sample_event.json # Test payload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└── files/plan.md, prd.md     # Planning docs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206240"/>
            <a:ext cx="530352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🔧  Key Design Decisions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6634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S3Object pointer to Rekognition (no download)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boto3 clients initialized outside handler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Config via env vars, not hardcoded strings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URL-decode S3 keys (handles special chars)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Graceful error handling per record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HTTP 207 for partial success scenarios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08  Results &amp; Performance 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88720"/>
          <a:ext cx="10881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51206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Image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Format/Size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Top Labels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Confidence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Exec Time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Latency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DB Write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landscape_01.jpg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JPG / 1.05 MB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Mountain, Tree, Sky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99.45%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412 ms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580 ms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✓ 200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urban_street.png</a:t>
                      </a:r>
                    </a:p>
                  </a:txBody>
                  <a:tcPr>
                    <a:solidFill>
                      <a:srgbClr val="1A2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PNG / 2.30 MB</a:t>
                      </a:r>
                    </a:p>
                  </a:txBody>
                  <a:tcPr>
                    <a:solidFill>
                      <a:srgbClr val="1A2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Car, Vehicle, Road</a:t>
                      </a:r>
                    </a:p>
                  </a:txBody>
                  <a:tcPr>
                    <a:solidFill>
                      <a:srgbClr val="1A2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98.80%</a:t>
                      </a:r>
                    </a:p>
                  </a:txBody>
                  <a:tcPr>
                    <a:solidFill>
                      <a:srgbClr val="1A2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485 ms</a:t>
                      </a:r>
                    </a:p>
                  </a:txBody>
                  <a:tcPr>
                    <a:solidFill>
                      <a:srgbClr val="1A2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690 ms</a:t>
                      </a:r>
                    </a:p>
                  </a:txBody>
                  <a:tcPr>
                    <a:solidFill>
                      <a:srgbClr val="1A2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✓ 200</a:t>
                      </a:r>
                    </a:p>
                  </a:txBody>
                  <a:tcPr>
                    <a:solidFill>
                      <a:srgbClr val="1A274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office_desk.jpeg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JPEG / 850 KB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Laptop, Desk, Office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97.10%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388 ms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520 ms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✓ 200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portrait_user.jpg</a:t>
                      </a:r>
                    </a:p>
                  </a:txBody>
                  <a:tcPr>
                    <a:solidFill>
                      <a:srgbClr val="1A2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JPG / 1.80 MB</a:t>
                      </a:r>
                    </a:p>
                  </a:txBody>
                  <a:tcPr>
                    <a:solidFill>
                      <a:srgbClr val="1A2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Person, Face, Smile</a:t>
                      </a:r>
                    </a:p>
                  </a:txBody>
                  <a:tcPr>
                    <a:solidFill>
                      <a:srgbClr val="1A2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99.12%</a:t>
                      </a:r>
                    </a:p>
                  </a:txBody>
                  <a:tcPr>
                    <a:solidFill>
                      <a:srgbClr val="1A2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440 ms</a:t>
                      </a:r>
                    </a:p>
                  </a:txBody>
                  <a:tcPr>
                    <a:solidFill>
                      <a:srgbClr val="1A2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610 ms</a:t>
                      </a:r>
                    </a:p>
                  </a:txBody>
                  <a:tcPr>
                    <a:solidFill>
                      <a:srgbClr val="1A2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✓ 200</a:t>
                      </a:r>
                    </a:p>
                  </a:txBody>
                  <a:tcPr>
                    <a:solidFill>
                      <a:srgbClr val="1A274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114800"/>
            <a:ext cx="2606040" cy="146304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Calibri"/>
              </a:defRPr>
            </a:pPr>
            <a:r>
              <a:t>842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Avg End-to-End</a:t>
            </a:r>
            <a:br/>
            <a:r>
              <a:t>Latency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4114800"/>
            <a:ext cx="2606040" cy="146304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429768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4D399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49377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Classification</a:t>
            </a:r>
            <a:br/>
            <a:r>
              <a:t>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114800"/>
            <a:ext cx="2606040" cy="146304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29768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BBF24"/>
                </a:solidFill>
                <a:latin typeface="Calibri"/>
              </a:defRPr>
            </a:pPr>
            <a:r>
              <a:t>$0.001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9377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Cost Per Image</a:t>
            </a:r>
            <a:br/>
            <a:r>
              <a:t>Processed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4114800"/>
            <a:ext cx="2606040" cy="146304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429768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B7185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49377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Idle Infrastructure</a:t>
            </a:r>
            <a:br/>
            <a:r>
              <a:t>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Table 3: Empirical latency and accuracy performance benchmark results across varied image categories.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09  Related Works — Comparative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8872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Traditional VM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Custom Model on FaaS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Proposed Pipeline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Compute Idle Cost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24/7 billing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Zero idle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Zero idle ✓</a:t>
                      </a:r>
                    </a:p>
                  </a:txBody>
                  <a:tcPr>
                    <a:solidFill>
                      <a:srgbClr val="0D2B1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Scaling</a:t>
                      </a:r>
                    </a:p>
                  </a:txBody>
                  <a:tcPr>
                    <a:solidFill>
                      <a:srgbClr val="1A2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2–5 min delay</a:t>
                      </a:r>
                    </a:p>
                  </a:txBody>
                  <a:tcPr>
                    <a:solidFill>
                      <a:srgbClr val="1A2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1–2 sec FaaS</a:t>
                      </a:r>
                    </a:p>
                  </a:txBody>
                  <a:tcPr>
                    <a:solidFill>
                      <a:srgbClr val="1A2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Sub-second ✓</a:t>
                      </a:r>
                    </a:p>
                  </a:txBody>
                  <a:tcPr>
                    <a:solidFill>
                      <a:srgbClr val="0D2B1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Cold Start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None (always on)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3–10 sec (ML weights)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200–400 ms ✓</a:t>
                      </a:r>
                    </a:p>
                  </a:txBody>
                  <a:tcPr>
                    <a:solidFill>
                      <a:srgbClr val="0D2B1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Security Surface</a:t>
                      </a:r>
                    </a:p>
                  </a:txBody>
                  <a:tcPr>
                    <a:solidFill>
                      <a:srgbClr val="1A2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Large (OS vulns)</a:t>
                      </a:r>
                    </a:p>
                  </a:txBody>
                  <a:tcPr>
                    <a:solidFill>
                      <a:srgbClr val="1A2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Medium (runtime)</a:t>
                      </a:r>
                    </a:p>
                  </a:txBody>
                  <a:tcPr>
                    <a:solidFill>
                      <a:srgbClr val="1A2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Minimal (IAM) ✓</a:t>
                      </a:r>
                    </a:p>
                  </a:txBody>
                  <a:tcPr>
                    <a:solidFill>
                      <a:srgbClr val="0D2B1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Maintenance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High (patching)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Medium (retraining)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Zero infra mgmt ✓</a:t>
                      </a:r>
                    </a:p>
                  </a:txBody>
                  <a:tcPr>
                    <a:solidFill>
                      <a:srgbClr val="0D2B1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663440"/>
            <a:ext cx="10881360" cy="1828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Key 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[1] Roberts &amp; Chapin — What is Serverless Architecture?, O'Reilly 2017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[2] Jonas et al. — Cloud Programming Simplified: A Berkeley View on Serverless, arXiv 2019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[3] Wang et al. — Peeking Behind the Curtains of Serverless Platforms, USENIX ATC 2018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[4] AWS — Amazon Rekognition Developer Guide, 2026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[5] AWS — Security Best Practices: Applying the Principle of Least Privilege,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10  Cost Analysis — Pay-Per-Use Economics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394960" cy="15544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AWS Lambda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1,000,000 free requests/month</a:t>
            </a:r>
            <a:br/>
            <a:r>
              <a:t>3,200,000 seconds compute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459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$0.00 for this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188720"/>
            <a:ext cx="5394960" cy="15544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325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Calibri"/>
              </a:defRPr>
            </a:pPr>
            <a:r>
              <a:t>Amazon Rekognition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6459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5,000 images/month free</a:t>
            </a:r>
            <a:br/>
            <a:r>
              <a:t>for first 12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16459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$0.001/image after free tier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5394960" cy="15544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54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  <a:latin typeface="Calibri"/>
              </a:defRPr>
            </a:pPr>
            <a:r>
              <a:t>Amazon DynamoDB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74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25 GB storage free</a:t>
            </a:r>
            <a:br/>
            <a:r>
              <a:t>25 WCU / 25 RCU free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4747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$0.00 for this project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017520"/>
            <a:ext cx="5394960" cy="15544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154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BF24"/>
                </a:solidFill>
                <a:latin typeface="Calibri"/>
              </a:defRPr>
            </a:pPr>
            <a:r>
              <a:t>Amazon S3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474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5 GB storage free</a:t>
            </a:r>
            <a:br/>
            <a:r>
              <a:t>20,000 GET / 2,000 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34747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$0.00 for this project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5120640"/>
            <a:ext cx="7589520" cy="1188720"/>
          </a:xfrm>
          <a:prstGeom prst="roundRect">
            <a:avLst/>
          </a:prstGeom>
          <a:solidFill>
            <a:srgbClr val="0D2B1A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0" y="5212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Total Cost: 1,000 Test 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600" b="1">
                <a:solidFill>
                  <a:srgbClr val="34D399"/>
                </a:solidFill>
                <a:latin typeface="Calibri"/>
              </a:defRPr>
            </a:pPr>
            <a:r>
              <a:t>$1.00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566928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Rekognition: $1.00  ·  Lambda: $0.00  ·  DynamoDB: $0.00  ·  S3: $0.00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11  Team Division of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303520" cy="484632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ANIRUDDH V K  —  24BAI1490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Team Lead &amp; Cloud Architect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286000"/>
            <a:ext cx="43891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AWS infrastructure provisioning &amp; setup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S3 bucket configuration + event notifications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AWS Lambda function lifecycle management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IAM least-privilege policy design (4 statements)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SAM/CloudFormation template authoring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S3 → Lambda trigger architecture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Security model documentation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303520" cy="484632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KONARK VERMA  —  24BAI1533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1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AI Integration &amp; Data Engineer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286000"/>
            <a:ext cx="438912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Amazon Rekognition DetectLabels API integration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Confidence threshold optimization (τ = 70%)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DynamoDB ImageTags table schema design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Local test harness (scripts/local_test.py)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Empirical performance benchmarking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Results analysis &amp; benchmark evaluation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Test payload + sample event design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12  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881360" cy="2011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Calibri"/>
              </a:defRPr>
            </a:pPr>
            <a:r>
              <a:t>✓ 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Successfully designed and implemented a fully automated event-driven serverless pipeline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Achieved sub-second processing latency (avg 842 ms) with 100% classification accuracy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Enforced strict least-privilege IAM across all 4 service integrations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Zero idle compute cost — pay only per-invocation ($0.001/image after free tier)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Review 3 — Planned Enhancements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40480"/>
            <a:ext cx="10881360" cy="5943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Interactive Web Viewer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8862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S3 static website + CloudFront to browse DynamoDB tags with thumbnails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72000"/>
            <a:ext cx="10881360" cy="5943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617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Dead-Letter Queue (DLQ)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6177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SQS/EventBridge DLQ for failed invocations + corrupt images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303520"/>
            <a:ext cx="10881360" cy="5943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349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alibri"/>
              </a:defRPr>
            </a:pPr>
            <a:r>
              <a:t>Multi-Region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34924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SAM CLI cross-region deploy + CloudWatch metric alarms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6035040"/>
            <a:ext cx="10881360" cy="5943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6080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Publication 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0807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Cost-per-inference benchmarking for journal/conference submission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834640"/>
            <a:ext cx="2133295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10896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Event-Driven Serverless AI Image Tagging &amp; Analysis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75488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Aniruddh V K (24BAI1490)  ·  Konark Verma (24BAI1533)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E1 &amp; E2 — Cloud Architecture and Solution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Review 1 &amp; 2 Combined  ·  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